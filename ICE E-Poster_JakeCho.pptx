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7"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164" autoAdjust="0"/>
    <p:restoredTop sz="94660"/>
  </p:normalViewPr>
  <p:slideViewPr>
    <p:cSldViewPr snapToGrid="0">
      <p:cViewPr>
        <p:scale>
          <a:sx n="200" d="100"/>
          <a:sy n="200" d="100"/>
        </p:scale>
        <p:origin x="2016" y="-38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2E5F2-CABC-454B-9561-EC82632DE51E}" type="datetimeFigureOut">
              <a:rPr lang="en-US" smtClean="0"/>
              <a:t>11/7/2025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032BC3-372C-48E5-8C8E-05F47BDBB4CE}" type="slidenum">
              <a:rPr lang="en-US" smtClean="0"/>
              <a:t>‹#›</a:t>
            </a:fld>
            <a:endParaRPr lang="en-US"/>
          </a:p>
        </p:txBody>
      </p:sp>
    </p:spTree>
    <p:extLst>
      <p:ext uri="{BB962C8B-B14F-4D97-AF65-F5344CB8AC3E}">
        <p14:creationId xmlns:p14="http://schemas.microsoft.com/office/powerpoint/2010/main" val="2844719284"/>
      </p:ext>
    </p:extLst>
  </p:cSld>
  <p:clrMap bg1="lt1" tx1="dk1" bg2="lt2" tx2="dk2" accent1="accent1" accent2="accent2" accent3="accent3" accent4="accent4" accent5="accent5" accent6="accent6" hlink="hlink" folHlink="folHlink"/>
  <p:notesStyle>
    <a:lvl1pPr marL="0" algn="l" defTabSz="190470" rtl="0" eaLnBrk="1" latinLnBrk="0" hangingPunct="1">
      <a:defRPr sz="250" kern="1200">
        <a:solidFill>
          <a:schemeClr val="tx1"/>
        </a:solidFill>
        <a:latin typeface="+mn-lt"/>
        <a:ea typeface="+mn-ea"/>
        <a:cs typeface="+mn-cs"/>
      </a:defRPr>
    </a:lvl1pPr>
    <a:lvl2pPr marL="95235" algn="l" defTabSz="190470" rtl="0" eaLnBrk="1" latinLnBrk="0" hangingPunct="1">
      <a:defRPr sz="250" kern="1200">
        <a:solidFill>
          <a:schemeClr val="tx1"/>
        </a:solidFill>
        <a:latin typeface="+mn-lt"/>
        <a:ea typeface="+mn-ea"/>
        <a:cs typeface="+mn-cs"/>
      </a:defRPr>
    </a:lvl2pPr>
    <a:lvl3pPr marL="190470" algn="l" defTabSz="190470" rtl="0" eaLnBrk="1" latinLnBrk="0" hangingPunct="1">
      <a:defRPr sz="250" kern="1200">
        <a:solidFill>
          <a:schemeClr val="tx1"/>
        </a:solidFill>
        <a:latin typeface="+mn-lt"/>
        <a:ea typeface="+mn-ea"/>
        <a:cs typeface="+mn-cs"/>
      </a:defRPr>
    </a:lvl3pPr>
    <a:lvl4pPr marL="285704" algn="l" defTabSz="190470" rtl="0" eaLnBrk="1" latinLnBrk="0" hangingPunct="1">
      <a:defRPr sz="250" kern="1200">
        <a:solidFill>
          <a:schemeClr val="tx1"/>
        </a:solidFill>
        <a:latin typeface="+mn-lt"/>
        <a:ea typeface="+mn-ea"/>
        <a:cs typeface="+mn-cs"/>
      </a:defRPr>
    </a:lvl4pPr>
    <a:lvl5pPr marL="380939" algn="l" defTabSz="190470" rtl="0" eaLnBrk="1" latinLnBrk="0" hangingPunct="1">
      <a:defRPr sz="250" kern="1200">
        <a:solidFill>
          <a:schemeClr val="tx1"/>
        </a:solidFill>
        <a:latin typeface="+mn-lt"/>
        <a:ea typeface="+mn-ea"/>
        <a:cs typeface="+mn-cs"/>
      </a:defRPr>
    </a:lvl5pPr>
    <a:lvl6pPr marL="476174" algn="l" defTabSz="190470" rtl="0" eaLnBrk="1" latinLnBrk="0" hangingPunct="1">
      <a:defRPr sz="250" kern="1200">
        <a:solidFill>
          <a:schemeClr val="tx1"/>
        </a:solidFill>
        <a:latin typeface="+mn-lt"/>
        <a:ea typeface="+mn-ea"/>
        <a:cs typeface="+mn-cs"/>
      </a:defRPr>
    </a:lvl6pPr>
    <a:lvl7pPr marL="571409" algn="l" defTabSz="190470" rtl="0" eaLnBrk="1" latinLnBrk="0" hangingPunct="1">
      <a:defRPr sz="250" kern="1200">
        <a:solidFill>
          <a:schemeClr val="tx1"/>
        </a:solidFill>
        <a:latin typeface="+mn-lt"/>
        <a:ea typeface="+mn-ea"/>
        <a:cs typeface="+mn-cs"/>
      </a:defRPr>
    </a:lvl7pPr>
    <a:lvl8pPr marL="666643" algn="l" defTabSz="190470" rtl="0" eaLnBrk="1" latinLnBrk="0" hangingPunct="1">
      <a:defRPr sz="250" kern="1200">
        <a:solidFill>
          <a:schemeClr val="tx1"/>
        </a:solidFill>
        <a:latin typeface="+mn-lt"/>
        <a:ea typeface="+mn-ea"/>
        <a:cs typeface="+mn-cs"/>
      </a:defRPr>
    </a:lvl8pPr>
    <a:lvl9pPr marL="761878" algn="l" defTabSz="190470" rtl="0" eaLnBrk="1" latinLnBrk="0" hangingPunct="1">
      <a:defRPr sz="2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032BC3-372C-48E5-8C8E-05F47BDBB4CE}" type="slidenum">
              <a:rPr lang="en-US" smtClean="0"/>
              <a:t>1</a:t>
            </a:fld>
            <a:endParaRPr lang="en-US"/>
          </a:p>
        </p:txBody>
      </p:sp>
    </p:spTree>
    <p:extLst>
      <p:ext uri="{BB962C8B-B14F-4D97-AF65-F5344CB8AC3E}">
        <p14:creationId xmlns:p14="http://schemas.microsoft.com/office/powerpoint/2010/main" val="623412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5999"/>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127" indent="0" algn="ctr">
              <a:buNone/>
              <a:defRPr sz="2000"/>
            </a:lvl2pPr>
            <a:lvl3pPr marL="914254" indent="0" algn="ctr">
              <a:buNone/>
              <a:defRPr sz="1800"/>
            </a:lvl3pPr>
            <a:lvl4pPr marL="1371381" indent="0" algn="ctr">
              <a:buNone/>
              <a:defRPr sz="1600"/>
            </a:lvl4pPr>
            <a:lvl5pPr marL="1828507" indent="0" algn="ctr">
              <a:buNone/>
              <a:defRPr sz="1600"/>
            </a:lvl5pPr>
            <a:lvl6pPr marL="2285634" indent="0" algn="ctr">
              <a:buNone/>
              <a:defRPr sz="1600"/>
            </a:lvl6pPr>
            <a:lvl7pPr marL="2742761" indent="0" algn="ctr">
              <a:buNone/>
              <a:defRPr sz="1600"/>
            </a:lvl7pPr>
            <a:lvl8pPr marL="3199888" indent="0" algn="ctr">
              <a:buNone/>
              <a:defRPr sz="1600"/>
            </a:lvl8pPr>
            <a:lvl9pPr marL="3657015"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24E59-1EAF-483E-80CC-8DDCD1707D5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1542017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24E59-1EAF-483E-80CC-8DDCD1707D5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3113795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5999"/>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127" indent="0">
              <a:buNone/>
              <a:defRPr sz="2000">
                <a:solidFill>
                  <a:schemeClr val="tx1">
                    <a:tint val="82000"/>
                  </a:schemeClr>
                </a:solidFill>
              </a:defRPr>
            </a:lvl2pPr>
            <a:lvl3pPr marL="914254" indent="0">
              <a:buNone/>
              <a:defRPr sz="1800">
                <a:solidFill>
                  <a:schemeClr val="tx1">
                    <a:tint val="82000"/>
                  </a:schemeClr>
                </a:solidFill>
              </a:defRPr>
            </a:lvl3pPr>
            <a:lvl4pPr marL="1371381" indent="0">
              <a:buNone/>
              <a:defRPr sz="1600">
                <a:solidFill>
                  <a:schemeClr val="tx1">
                    <a:tint val="82000"/>
                  </a:schemeClr>
                </a:solidFill>
              </a:defRPr>
            </a:lvl4pPr>
            <a:lvl5pPr marL="1828507" indent="0">
              <a:buNone/>
              <a:defRPr sz="1600">
                <a:solidFill>
                  <a:schemeClr val="tx1">
                    <a:tint val="82000"/>
                  </a:schemeClr>
                </a:solidFill>
              </a:defRPr>
            </a:lvl5pPr>
            <a:lvl6pPr marL="2285634" indent="0">
              <a:buNone/>
              <a:defRPr sz="1600">
                <a:solidFill>
                  <a:schemeClr val="tx1">
                    <a:tint val="82000"/>
                  </a:schemeClr>
                </a:solidFill>
              </a:defRPr>
            </a:lvl6pPr>
            <a:lvl7pPr marL="2742761" indent="0">
              <a:buNone/>
              <a:defRPr sz="1600">
                <a:solidFill>
                  <a:schemeClr val="tx1">
                    <a:tint val="82000"/>
                  </a:schemeClr>
                </a:solidFill>
              </a:defRPr>
            </a:lvl7pPr>
            <a:lvl8pPr marL="3199888" indent="0">
              <a:buNone/>
              <a:defRPr sz="1600">
                <a:solidFill>
                  <a:schemeClr val="tx1">
                    <a:tint val="82000"/>
                  </a:schemeClr>
                </a:solidFill>
              </a:defRPr>
            </a:lvl8pPr>
            <a:lvl9pPr marL="3657015"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24E59-1EAF-483E-80CC-8DDCD1707D5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1655524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24E59-1EAF-483E-80CC-8DDCD1707D5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1116928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127" indent="0">
              <a:buNone/>
              <a:defRPr sz="2000" b="1"/>
            </a:lvl2pPr>
            <a:lvl3pPr marL="914254" indent="0">
              <a:buNone/>
              <a:defRPr sz="1800" b="1"/>
            </a:lvl3pPr>
            <a:lvl4pPr marL="1371381" indent="0">
              <a:buNone/>
              <a:defRPr sz="1600" b="1"/>
            </a:lvl4pPr>
            <a:lvl5pPr marL="1828507" indent="0">
              <a:buNone/>
              <a:defRPr sz="1600" b="1"/>
            </a:lvl5pPr>
            <a:lvl6pPr marL="2285634" indent="0">
              <a:buNone/>
              <a:defRPr sz="1600" b="1"/>
            </a:lvl6pPr>
            <a:lvl7pPr marL="2742761" indent="0">
              <a:buNone/>
              <a:defRPr sz="1600" b="1"/>
            </a:lvl7pPr>
            <a:lvl8pPr marL="3199888" indent="0">
              <a:buNone/>
              <a:defRPr sz="1600" b="1"/>
            </a:lvl8pPr>
            <a:lvl9pPr marL="3657015"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127" indent="0">
              <a:buNone/>
              <a:defRPr sz="2000" b="1"/>
            </a:lvl2pPr>
            <a:lvl3pPr marL="914254" indent="0">
              <a:buNone/>
              <a:defRPr sz="1800" b="1"/>
            </a:lvl3pPr>
            <a:lvl4pPr marL="1371381" indent="0">
              <a:buNone/>
              <a:defRPr sz="1600" b="1"/>
            </a:lvl4pPr>
            <a:lvl5pPr marL="1828507" indent="0">
              <a:buNone/>
              <a:defRPr sz="1600" b="1"/>
            </a:lvl5pPr>
            <a:lvl6pPr marL="2285634" indent="0">
              <a:buNone/>
              <a:defRPr sz="1600" b="1"/>
            </a:lvl6pPr>
            <a:lvl7pPr marL="2742761" indent="0">
              <a:buNone/>
              <a:defRPr sz="1600" b="1"/>
            </a:lvl7pPr>
            <a:lvl8pPr marL="3199888" indent="0">
              <a:buNone/>
              <a:defRPr sz="1600" b="1"/>
            </a:lvl8pPr>
            <a:lvl9pPr marL="3657015"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24E59-1EAF-483E-80CC-8DDCD1707D54}"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3761146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24E59-1EAF-483E-80CC-8DDCD1707D54}"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2340629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24E59-1EAF-483E-80CC-8DDCD1707D54}"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3544924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199"/>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199"/>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127" indent="0">
              <a:buNone/>
              <a:defRPr sz="1400"/>
            </a:lvl2pPr>
            <a:lvl3pPr marL="914254" indent="0">
              <a:buNone/>
              <a:defRPr sz="1200"/>
            </a:lvl3pPr>
            <a:lvl4pPr marL="1371381" indent="0">
              <a:buNone/>
              <a:defRPr sz="1000"/>
            </a:lvl4pPr>
            <a:lvl5pPr marL="1828507" indent="0">
              <a:buNone/>
              <a:defRPr sz="1000"/>
            </a:lvl5pPr>
            <a:lvl6pPr marL="2285634" indent="0">
              <a:buNone/>
              <a:defRPr sz="1000"/>
            </a:lvl6pPr>
            <a:lvl7pPr marL="2742761" indent="0">
              <a:buNone/>
              <a:defRPr sz="1000"/>
            </a:lvl7pPr>
            <a:lvl8pPr marL="3199888" indent="0">
              <a:buNone/>
              <a:defRPr sz="1000"/>
            </a:lvl8pPr>
            <a:lvl9pPr marL="365701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24E59-1EAF-483E-80CC-8DDCD1707D5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514834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19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199"/>
            </a:lvl1pPr>
            <a:lvl2pPr marL="457127" indent="0">
              <a:buNone/>
              <a:defRPr sz="2800"/>
            </a:lvl2pPr>
            <a:lvl3pPr marL="914254" indent="0">
              <a:buNone/>
              <a:defRPr sz="2400"/>
            </a:lvl3pPr>
            <a:lvl4pPr marL="1371381" indent="0">
              <a:buNone/>
              <a:defRPr sz="2000"/>
            </a:lvl4pPr>
            <a:lvl5pPr marL="1828507" indent="0">
              <a:buNone/>
              <a:defRPr sz="2000"/>
            </a:lvl5pPr>
            <a:lvl6pPr marL="2285634" indent="0">
              <a:buNone/>
              <a:defRPr sz="2000"/>
            </a:lvl6pPr>
            <a:lvl7pPr marL="2742761" indent="0">
              <a:buNone/>
              <a:defRPr sz="2000"/>
            </a:lvl7pPr>
            <a:lvl8pPr marL="3199888" indent="0">
              <a:buNone/>
              <a:defRPr sz="2000"/>
            </a:lvl8pPr>
            <a:lvl9pPr marL="3657015"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127" indent="0">
              <a:buNone/>
              <a:defRPr sz="1400"/>
            </a:lvl2pPr>
            <a:lvl3pPr marL="914254" indent="0">
              <a:buNone/>
              <a:defRPr sz="1200"/>
            </a:lvl3pPr>
            <a:lvl4pPr marL="1371381" indent="0">
              <a:buNone/>
              <a:defRPr sz="1000"/>
            </a:lvl4pPr>
            <a:lvl5pPr marL="1828507" indent="0">
              <a:buNone/>
              <a:defRPr sz="1000"/>
            </a:lvl5pPr>
            <a:lvl6pPr marL="2285634" indent="0">
              <a:buNone/>
              <a:defRPr sz="1000"/>
            </a:lvl6pPr>
            <a:lvl7pPr marL="2742761" indent="0">
              <a:buNone/>
              <a:defRPr sz="1000"/>
            </a:lvl7pPr>
            <a:lvl8pPr marL="3199888" indent="0">
              <a:buNone/>
              <a:defRPr sz="1000"/>
            </a:lvl8pPr>
            <a:lvl9pPr marL="365701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24E59-1EAF-483E-80CC-8DDCD1707D5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2836132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24E59-1EAF-483E-80CC-8DDCD1707D5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255322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24E59-1EAF-483E-80CC-8DDCD1707D5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366A6F-CD2D-47B0-A292-8540CCEFF6A7}" type="slidenum">
              <a:rPr lang="en-US" smtClean="0"/>
              <a:t>‹#›</a:t>
            </a:fld>
            <a:endParaRPr lang="en-US"/>
          </a:p>
        </p:txBody>
      </p:sp>
    </p:spTree>
    <p:extLst>
      <p:ext uri="{BB962C8B-B14F-4D97-AF65-F5344CB8AC3E}">
        <p14:creationId xmlns:p14="http://schemas.microsoft.com/office/powerpoint/2010/main" val="2561733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624E59-1EAF-483E-80CC-8DDCD1707D54}" type="datetimeFigureOut">
              <a:rPr lang="en-US" smtClean="0"/>
              <a:t>11/7/2025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366A6F-CD2D-47B0-A292-8540CCEFF6A7}" type="slidenum">
              <a:rPr lang="en-US" smtClean="0"/>
              <a:t>‹#›</a:t>
            </a:fld>
            <a:endParaRPr lang="en-US"/>
          </a:p>
        </p:txBody>
      </p:sp>
    </p:spTree>
    <p:extLst>
      <p:ext uri="{BB962C8B-B14F-4D97-AF65-F5344CB8AC3E}">
        <p14:creationId xmlns:p14="http://schemas.microsoft.com/office/powerpoint/2010/main" val="25302759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254"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63" indent="-228563" algn="l" defTabSz="9142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690" indent="-228563" algn="l" defTabSz="9142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17" indent="-228563" algn="l" defTabSz="9142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44" indent="-228563" algn="l" defTabSz="9142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071" indent="-228563" algn="l" defTabSz="9142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198" indent="-228563" algn="l" defTabSz="9142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325" indent="-228563" algn="l" defTabSz="9142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451" indent="-228563" algn="l" defTabSz="9142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78" indent="-228563" algn="l" defTabSz="9142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54" rtl="0" eaLnBrk="1" latinLnBrk="0" hangingPunct="1">
        <a:defRPr sz="1800" kern="1200">
          <a:solidFill>
            <a:schemeClr val="tx1"/>
          </a:solidFill>
          <a:latin typeface="+mn-lt"/>
          <a:ea typeface="+mn-ea"/>
          <a:cs typeface="+mn-cs"/>
        </a:defRPr>
      </a:lvl1pPr>
      <a:lvl2pPr marL="457127" algn="l" defTabSz="914254" rtl="0" eaLnBrk="1" latinLnBrk="0" hangingPunct="1">
        <a:defRPr sz="1800" kern="1200">
          <a:solidFill>
            <a:schemeClr val="tx1"/>
          </a:solidFill>
          <a:latin typeface="+mn-lt"/>
          <a:ea typeface="+mn-ea"/>
          <a:cs typeface="+mn-cs"/>
        </a:defRPr>
      </a:lvl2pPr>
      <a:lvl3pPr marL="914254" algn="l" defTabSz="914254" rtl="0" eaLnBrk="1" latinLnBrk="0" hangingPunct="1">
        <a:defRPr sz="1800" kern="1200">
          <a:solidFill>
            <a:schemeClr val="tx1"/>
          </a:solidFill>
          <a:latin typeface="+mn-lt"/>
          <a:ea typeface="+mn-ea"/>
          <a:cs typeface="+mn-cs"/>
        </a:defRPr>
      </a:lvl3pPr>
      <a:lvl4pPr marL="1371381" algn="l" defTabSz="914254" rtl="0" eaLnBrk="1" latinLnBrk="0" hangingPunct="1">
        <a:defRPr sz="1800" kern="1200">
          <a:solidFill>
            <a:schemeClr val="tx1"/>
          </a:solidFill>
          <a:latin typeface="+mn-lt"/>
          <a:ea typeface="+mn-ea"/>
          <a:cs typeface="+mn-cs"/>
        </a:defRPr>
      </a:lvl4pPr>
      <a:lvl5pPr marL="1828507" algn="l" defTabSz="914254" rtl="0" eaLnBrk="1" latinLnBrk="0" hangingPunct="1">
        <a:defRPr sz="1800" kern="1200">
          <a:solidFill>
            <a:schemeClr val="tx1"/>
          </a:solidFill>
          <a:latin typeface="+mn-lt"/>
          <a:ea typeface="+mn-ea"/>
          <a:cs typeface="+mn-cs"/>
        </a:defRPr>
      </a:lvl5pPr>
      <a:lvl6pPr marL="2285634" algn="l" defTabSz="914254" rtl="0" eaLnBrk="1" latinLnBrk="0" hangingPunct="1">
        <a:defRPr sz="1800" kern="1200">
          <a:solidFill>
            <a:schemeClr val="tx1"/>
          </a:solidFill>
          <a:latin typeface="+mn-lt"/>
          <a:ea typeface="+mn-ea"/>
          <a:cs typeface="+mn-cs"/>
        </a:defRPr>
      </a:lvl6pPr>
      <a:lvl7pPr marL="2742761" algn="l" defTabSz="914254" rtl="0" eaLnBrk="1" latinLnBrk="0" hangingPunct="1">
        <a:defRPr sz="1800" kern="1200">
          <a:solidFill>
            <a:schemeClr val="tx1"/>
          </a:solidFill>
          <a:latin typeface="+mn-lt"/>
          <a:ea typeface="+mn-ea"/>
          <a:cs typeface="+mn-cs"/>
        </a:defRPr>
      </a:lvl7pPr>
      <a:lvl8pPr marL="3199888" algn="l" defTabSz="914254" rtl="0" eaLnBrk="1" latinLnBrk="0" hangingPunct="1">
        <a:defRPr sz="1800" kern="1200">
          <a:solidFill>
            <a:schemeClr val="tx1"/>
          </a:solidFill>
          <a:latin typeface="+mn-lt"/>
          <a:ea typeface="+mn-ea"/>
          <a:cs typeface="+mn-cs"/>
        </a:defRPr>
      </a:lvl8pPr>
      <a:lvl9pPr marL="3657015" algn="l" defTabSz="9142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ABB348-CFBE-B713-1E1A-92445835AC7A}"/>
              </a:ext>
            </a:extLst>
          </p:cNvPr>
          <p:cNvSpPr/>
          <p:nvPr/>
        </p:nvSpPr>
        <p:spPr>
          <a:xfrm>
            <a:off x="0" y="0"/>
            <a:ext cx="9144000" cy="680357"/>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solidFill>
                  <a:srgbClr val="002060"/>
                </a:solidFill>
              </a:rPr>
              <a:t>Applications of AI to Assessment: </a:t>
            </a:r>
          </a:p>
          <a:p>
            <a:pPr lvl="0" algn="ctr"/>
            <a:r>
              <a:rPr lang="en-US" b="1" dirty="0">
                <a:solidFill>
                  <a:srgbClr val="002060"/>
                </a:solidFill>
              </a:rPr>
              <a:t>Leveraging Vector Databases</a:t>
            </a:r>
            <a:r>
              <a:rPr lang="en-US" sz="1000" b="1" dirty="0">
                <a:solidFill>
                  <a:srgbClr val="002060"/>
                </a:solidFill>
              </a:rPr>
              <a:t>   </a:t>
            </a:r>
          </a:p>
          <a:p>
            <a:pPr lvl="0" algn="ctr"/>
            <a:r>
              <a:rPr lang="en-US" sz="917" dirty="0">
                <a:solidFill>
                  <a:schemeClr val="tx1">
                    <a:lumMod val="95000"/>
                    <a:lumOff val="5000"/>
                  </a:schemeClr>
                </a:solidFill>
              </a:rPr>
              <a:t>Jake Cho, PhD </a:t>
            </a:r>
            <a:endParaRPr lang="en-US" sz="1000" dirty="0">
              <a:solidFill>
                <a:schemeClr val="tx1">
                  <a:lumMod val="95000"/>
                  <a:lumOff val="5000"/>
                </a:schemeClr>
              </a:solidFill>
            </a:endParaRPr>
          </a:p>
        </p:txBody>
      </p:sp>
      <p:pic>
        <p:nvPicPr>
          <p:cNvPr id="6" name="Picture 5" descr="A black and grey logo&#10;&#10;AI-generated content may be incorrect.">
            <a:extLst>
              <a:ext uri="{FF2B5EF4-FFF2-40B4-BE49-F238E27FC236}">
                <a16:creationId xmlns:a16="http://schemas.microsoft.com/office/drawing/2014/main" id="{6631166D-D22C-B83C-E771-1B21B71CFF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788" y="115501"/>
            <a:ext cx="1335924" cy="452437"/>
          </a:xfrm>
          <a:prstGeom prst="rect">
            <a:avLst/>
          </a:prstGeom>
        </p:spPr>
      </p:pic>
      <p:sp>
        <p:nvSpPr>
          <p:cNvPr id="18" name="TextBox 17">
            <a:extLst>
              <a:ext uri="{FF2B5EF4-FFF2-40B4-BE49-F238E27FC236}">
                <a16:creationId xmlns:a16="http://schemas.microsoft.com/office/drawing/2014/main" id="{A5995904-D286-6135-F714-EC555406887C}"/>
              </a:ext>
            </a:extLst>
          </p:cNvPr>
          <p:cNvSpPr txBox="1"/>
          <p:nvPr/>
        </p:nvSpPr>
        <p:spPr>
          <a:xfrm>
            <a:off x="114788" y="956128"/>
            <a:ext cx="8914423" cy="830997"/>
          </a:xfrm>
          <a:prstGeom prst="rect">
            <a:avLst/>
          </a:prstGeom>
          <a:noFill/>
          <a:ln>
            <a:noFill/>
          </a:ln>
        </p:spPr>
        <p:txBody>
          <a:bodyPr wrap="square">
            <a:spAutoFit/>
          </a:bodyPr>
          <a:lstStyle/>
          <a:p>
            <a:r>
              <a:rPr lang="en-US" sz="800" dirty="0"/>
              <a:t>High-stakes assessment programs increasingly depend on large, dynamic item banks, where maintaining fairness, consistency, and psychometric quality is essential. Traditional workflows require extensive manual review to detect enemy items, predict item difficulty, and classify new content—processes that are time-consuming. Recent advances in vector databases and local large language models (LLMs) provide new opportunities to automate and enhance these psychometric workflows. By representing each test item as a high-dimensional vector, semantic similarity between items can be quantified, enabling instant enemy item detection through real-time similarity search, pretest item difficulty prediction via vector-based comparison to calibrated items, and data-driven insights to help SMEs and psychometricians identify the most relevant domain for new/revised items through similarity mapping. </a:t>
            </a:r>
            <a:br>
              <a:rPr lang="en-US" sz="800" dirty="0"/>
            </a:br>
            <a:r>
              <a:rPr lang="en-US" sz="800" dirty="0"/>
              <a:t>The goal of this project is to develop a proof-of-concept system that demonstrates how embeddings, vector search, and local LLMs can enhance psychometric review and item bank management.</a:t>
            </a:r>
          </a:p>
        </p:txBody>
      </p:sp>
      <p:sp>
        <p:nvSpPr>
          <p:cNvPr id="19" name="TextBox 18">
            <a:extLst>
              <a:ext uri="{FF2B5EF4-FFF2-40B4-BE49-F238E27FC236}">
                <a16:creationId xmlns:a16="http://schemas.microsoft.com/office/drawing/2014/main" id="{C764469B-0982-6122-1C07-8E2BC0B2E450}"/>
              </a:ext>
            </a:extLst>
          </p:cNvPr>
          <p:cNvSpPr txBox="1"/>
          <p:nvPr/>
        </p:nvSpPr>
        <p:spPr>
          <a:xfrm>
            <a:off x="6080760" y="4313909"/>
            <a:ext cx="3063240" cy="1077218"/>
          </a:xfrm>
          <a:prstGeom prst="rect">
            <a:avLst/>
          </a:prstGeom>
          <a:noFill/>
          <a:ln>
            <a:noFill/>
          </a:ln>
        </p:spPr>
        <p:txBody>
          <a:bodyPr wrap="square">
            <a:spAutoFit/>
          </a:bodyPr>
          <a:lstStyle/>
          <a:p>
            <a:r>
              <a:rPr lang="en-US" sz="700" dirty="0"/>
              <a:t>New / revised items are AI-assisted and preliminarily categorized by domain or cognitive level through similarity mapping, which compares each new item to an existing labeled item bank to inform accurate and consistent classification across content areas.</a:t>
            </a:r>
          </a:p>
          <a:p>
            <a:endParaRPr lang="en-US" sz="800" dirty="0"/>
          </a:p>
          <a:p>
            <a:pPr marL="171450" indent="-171450">
              <a:buFont typeface="Arial" panose="020B0604020202020204" pitchFamily="34" charset="0"/>
              <a:buChar char="•"/>
            </a:pPr>
            <a:r>
              <a:rPr lang="en-US" sz="700" b="1" dirty="0"/>
              <a:t>Vector-based domain alignment:</a:t>
            </a:r>
            <a:r>
              <a:rPr lang="en-US" sz="700" dirty="0"/>
              <a:t> The model identifies the most similar items and assigns the majority domain label among them.</a:t>
            </a:r>
          </a:p>
          <a:p>
            <a:pPr marL="171450" indent="-171450">
              <a:buFont typeface="Arial" panose="020B0604020202020204" pitchFamily="34" charset="0"/>
              <a:buChar char="•"/>
            </a:pPr>
            <a:r>
              <a:rPr lang="en-US" sz="700" b="1" dirty="0"/>
              <a:t>Streamlined SME workflow:</a:t>
            </a:r>
            <a:r>
              <a:rPr lang="en-US" sz="700" dirty="0"/>
              <a:t> Provides an initial domain suggestion that SMEs can verify and adjust, speeding up classification.</a:t>
            </a:r>
          </a:p>
        </p:txBody>
      </p:sp>
      <p:sp>
        <p:nvSpPr>
          <p:cNvPr id="29" name="TextBox 28">
            <a:extLst>
              <a:ext uri="{FF2B5EF4-FFF2-40B4-BE49-F238E27FC236}">
                <a16:creationId xmlns:a16="http://schemas.microsoft.com/office/drawing/2014/main" id="{10F89E4D-D2FA-7F7E-0681-0AF517FF4A86}"/>
              </a:ext>
            </a:extLst>
          </p:cNvPr>
          <p:cNvSpPr txBox="1"/>
          <p:nvPr/>
        </p:nvSpPr>
        <p:spPr>
          <a:xfrm>
            <a:off x="3063240" y="4287359"/>
            <a:ext cx="3017522" cy="1384995"/>
          </a:xfrm>
          <a:prstGeom prst="rect">
            <a:avLst/>
          </a:prstGeom>
          <a:noFill/>
          <a:ln>
            <a:noFill/>
          </a:ln>
        </p:spPr>
        <p:txBody>
          <a:bodyPr wrap="square" rtlCol="0">
            <a:spAutoFit/>
          </a:bodyPr>
          <a:lstStyle/>
          <a:p>
            <a:r>
              <a:rPr lang="en-US" sz="700" dirty="0"/>
              <a:t>The system estimates an item’s expected Rasch difficulty (b-parameter) prior to calibration by locating the most semantically similar calibrated items within the vector space. By leveraging these similarity relationships, the model infers the probable difficulty level of new items, providing early psychometric insight before empirical data collection.</a:t>
            </a:r>
          </a:p>
          <a:p>
            <a:endParaRPr lang="en-US" sz="700" dirty="0"/>
          </a:p>
          <a:p>
            <a:pPr marL="171450" indent="-171450">
              <a:buFont typeface="Arial" panose="020B0604020202020204" pitchFamily="34" charset="0"/>
              <a:buChar char="•"/>
            </a:pPr>
            <a:r>
              <a:rPr lang="en-US" sz="700" b="1" dirty="0"/>
              <a:t>Similarity-based inference:</a:t>
            </a:r>
            <a:r>
              <a:rPr lang="en-US" sz="700" dirty="0"/>
              <a:t> Retrieves the top </a:t>
            </a:r>
            <a:r>
              <a:rPr lang="en-US" sz="700" i="1" dirty="0"/>
              <a:t>k</a:t>
            </a:r>
            <a:r>
              <a:rPr lang="en-US" sz="700" dirty="0"/>
              <a:t> most similar calibrated items to estimate pretest difficulty.</a:t>
            </a:r>
          </a:p>
          <a:p>
            <a:pPr marL="171450" indent="-171450">
              <a:buFont typeface="Arial" panose="020B0604020202020204" pitchFamily="34" charset="0"/>
              <a:buChar char="•"/>
            </a:pPr>
            <a:r>
              <a:rPr lang="en-US" sz="700" b="1" dirty="0"/>
              <a:t>Empirical validation:</a:t>
            </a:r>
            <a:r>
              <a:rPr lang="en-US" sz="700" dirty="0"/>
              <a:t> Compares predicted and actual difficulties to confirm accuracy.</a:t>
            </a:r>
          </a:p>
          <a:p>
            <a:pPr marL="171450" indent="-171450">
              <a:buFont typeface="Arial" panose="020B0604020202020204" pitchFamily="34" charset="0"/>
              <a:buChar char="•"/>
            </a:pPr>
            <a:r>
              <a:rPr lang="en-US" sz="700" b="1" dirty="0"/>
              <a:t>Improved form balance:</a:t>
            </a:r>
            <a:r>
              <a:rPr lang="en-US" sz="700" dirty="0"/>
              <a:t> Supports assembling equivalent forms early in development, even before pilot data are available.</a:t>
            </a:r>
          </a:p>
        </p:txBody>
      </p:sp>
      <p:sp>
        <p:nvSpPr>
          <p:cNvPr id="32" name="TextBox 31">
            <a:extLst>
              <a:ext uri="{FF2B5EF4-FFF2-40B4-BE49-F238E27FC236}">
                <a16:creationId xmlns:a16="http://schemas.microsoft.com/office/drawing/2014/main" id="{84E7DF36-D531-0C7E-32AC-BC59A87E3271}"/>
              </a:ext>
            </a:extLst>
          </p:cNvPr>
          <p:cNvSpPr txBox="1"/>
          <p:nvPr/>
        </p:nvSpPr>
        <p:spPr>
          <a:xfrm>
            <a:off x="0" y="4308716"/>
            <a:ext cx="3063240" cy="1384995"/>
          </a:xfrm>
          <a:prstGeom prst="rect">
            <a:avLst/>
          </a:prstGeom>
          <a:noFill/>
          <a:ln>
            <a:noFill/>
          </a:ln>
        </p:spPr>
        <p:txBody>
          <a:bodyPr wrap="square" rtlCol="0">
            <a:spAutoFit/>
          </a:bodyPr>
          <a:lstStyle/>
          <a:p>
            <a:r>
              <a:rPr lang="en-US" sz="700" dirty="0"/>
              <a:t>AI-powered vector similarity search identifies pairs of items that are too similar in content or structure—so-called </a:t>
            </a:r>
            <a:r>
              <a:rPr lang="en-US" sz="700" i="1" dirty="0"/>
              <a:t>enemy items</a:t>
            </a:r>
            <a:r>
              <a:rPr lang="en-US" sz="700" dirty="0"/>
              <a:t>—which can compromise fairness or threaten item security.</a:t>
            </a:r>
          </a:p>
          <a:p>
            <a:endParaRPr lang="en-US" sz="700" dirty="0"/>
          </a:p>
          <a:p>
            <a:pPr marL="171450" indent="-171450">
              <a:buFont typeface="Arial" panose="020B0604020202020204" pitchFamily="34" charset="0"/>
              <a:buChar char="•"/>
            </a:pPr>
            <a:r>
              <a:rPr lang="en-US" sz="700" b="1" dirty="0"/>
              <a:t>Real-time detection:</a:t>
            </a:r>
            <a:r>
              <a:rPr lang="en-US" sz="700" dirty="0"/>
              <a:t> Each newly written item is converted into a high-dimensional vector and compared against the existing operational pool within seconds.</a:t>
            </a:r>
          </a:p>
          <a:p>
            <a:pPr marL="171450" indent="-171450">
              <a:buFont typeface="Arial" panose="020B0604020202020204" pitchFamily="34" charset="0"/>
              <a:buChar char="•"/>
            </a:pPr>
            <a:r>
              <a:rPr lang="en-US" sz="700" b="1" dirty="0"/>
              <a:t>Informative feedback to item writers:</a:t>
            </a:r>
            <a:r>
              <a:rPr lang="en-US" sz="700" dirty="0"/>
              <a:t> Highlights subtle conceptual overlap across items, guiding refinement and reducing overlooked redundancy.</a:t>
            </a:r>
          </a:p>
          <a:p>
            <a:pPr marL="171450" indent="-171450">
              <a:buFont typeface="Arial" panose="020B0604020202020204" pitchFamily="34" charset="0"/>
              <a:buChar char="•"/>
            </a:pPr>
            <a:r>
              <a:rPr lang="en-US" sz="700" b="1" dirty="0"/>
              <a:t>Enhanced test security:</a:t>
            </a:r>
            <a:r>
              <a:rPr lang="en-US" sz="700" dirty="0"/>
              <a:t> Prevents unintended item exposure and content redundancy in LOFT or adaptive test forms.</a:t>
            </a:r>
          </a:p>
        </p:txBody>
      </p:sp>
      <p:sp>
        <p:nvSpPr>
          <p:cNvPr id="33" name="TextBox 32">
            <a:extLst>
              <a:ext uri="{FF2B5EF4-FFF2-40B4-BE49-F238E27FC236}">
                <a16:creationId xmlns:a16="http://schemas.microsoft.com/office/drawing/2014/main" id="{13124168-F641-0E28-3659-B3AE12D7DCA0}"/>
              </a:ext>
            </a:extLst>
          </p:cNvPr>
          <p:cNvSpPr txBox="1"/>
          <p:nvPr/>
        </p:nvSpPr>
        <p:spPr>
          <a:xfrm>
            <a:off x="0" y="684775"/>
            <a:ext cx="9144000" cy="261610"/>
          </a:xfrm>
          <a:prstGeom prst="rect">
            <a:avLst/>
          </a:prstGeom>
          <a:solidFill>
            <a:schemeClr val="tx1"/>
          </a:solidFill>
        </p:spPr>
        <p:txBody>
          <a:bodyPr wrap="square" rtlCol="0">
            <a:spAutoFit/>
          </a:bodyPr>
          <a:lstStyle/>
          <a:p>
            <a:pPr algn="ctr"/>
            <a:r>
              <a:rPr lang="en-US" sz="1050" b="1" dirty="0">
                <a:solidFill>
                  <a:schemeClr val="bg1"/>
                </a:solidFill>
              </a:rPr>
              <a:t>    Motivation and Context</a:t>
            </a:r>
          </a:p>
        </p:txBody>
      </p:sp>
      <p:sp>
        <p:nvSpPr>
          <p:cNvPr id="34" name="TextBox 33">
            <a:extLst>
              <a:ext uri="{FF2B5EF4-FFF2-40B4-BE49-F238E27FC236}">
                <a16:creationId xmlns:a16="http://schemas.microsoft.com/office/drawing/2014/main" id="{995C6364-5A19-44D2-F62E-E1FB10854298}"/>
              </a:ext>
            </a:extLst>
          </p:cNvPr>
          <p:cNvSpPr txBox="1"/>
          <p:nvPr/>
        </p:nvSpPr>
        <p:spPr>
          <a:xfrm>
            <a:off x="0" y="3791926"/>
            <a:ext cx="9144000" cy="261610"/>
          </a:xfrm>
          <a:prstGeom prst="rect">
            <a:avLst/>
          </a:prstGeom>
          <a:solidFill>
            <a:schemeClr val="tx1"/>
          </a:solidFill>
        </p:spPr>
        <p:txBody>
          <a:bodyPr wrap="square" rtlCol="0">
            <a:spAutoFit/>
          </a:bodyPr>
          <a:lstStyle/>
          <a:p>
            <a:pPr algn="ctr"/>
            <a:r>
              <a:rPr lang="en-US" sz="1050" b="1" dirty="0">
                <a:solidFill>
                  <a:schemeClr val="bg1"/>
                </a:solidFill>
              </a:rPr>
              <a:t>Applications</a:t>
            </a:r>
          </a:p>
        </p:txBody>
      </p:sp>
      <p:sp>
        <p:nvSpPr>
          <p:cNvPr id="46" name="Rectangle 45">
            <a:extLst>
              <a:ext uri="{FF2B5EF4-FFF2-40B4-BE49-F238E27FC236}">
                <a16:creationId xmlns:a16="http://schemas.microsoft.com/office/drawing/2014/main" id="{6ED701B5-AC2E-3038-5D77-50BB02A19323}"/>
              </a:ext>
            </a:extLst>
          </p:cNvPr>
          <p:cNvSpPr/>
          <p:nvPr/>
        </p:nvSpPr>
        <p:spPr>
          <a:xfrm>
            <a:off x="0" y="6742499"/>
            <a:ext cx="9144000" cy="10729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92" dirty="0">
              <a:solidFill>
                <a:schemeClr val="tx1">
                  <a:lumMod val="95000"/>
                  <a:lumOff val="5000"/>
                </a:schemeClr>
              </a:solidFill>
            </a:endParaRPr>
          </a:p>
        </p:txBody>
      </p:sp>
      <p:sp>
        <p:nvSpPr>
          <p:cNvPr id="9" name="TextBox 8">
            <a:extLst>
              <a:ext uri="{FF2B5EF4-FFF2-40B4-BE49-F238E27FC236}">
                <a16:creationId xmlns:a16="http://schemas.microsoft.com/office/drawing/2014/main" id="{351B65A0-ABEA-2BD7-9BFD-B1713D8035E3}"/>
              </a:ext>
            </a:extLst>
          </p:cNvPr>
          <p:cNvSpPr txBox="1"/>
          <p:nvPr/>
        </p:nvSpPr>
        <p:spPr>
          <a:xfrm>
            <a:off x="0" y="1882960"/>
            <a:ext cx="9144000" cy="252698"/>
          </a:xfrm>
          <a:prstGeom prst="rect">
            <a:avLst/>
          </a:prstGeom>
          <a:solidFill>
            <a:schemeClr val="tx1"/>
          </a:solidFill>
        </p:spPr>
        <p:txBody>
          <a:bodyPr wrap="square" rtlCol="0">
            <a:spAutoFit/>
          </a:bodyPr>
          <a:lstStyle/>
          <a:p>
            <a:pPr algn="ctr"/>
            <a:r>
              <a:rPr lang="en-US" sz="1050" b="1" dirty="0">
                <a:solidFill>
                  <a:schemeClr val="bg1"/>
                </a:solidFill>
              </a:rPr>
              <a:t>Major Terms</a:t>
            </a:r>
            <a:endParaRPr lang="en-US" sz="1042" b="1" dirty="0">
              <a:solidFill>
                <a:schemeClr val="bg1"/>
              </a:solidFill>
            </a:endParaRPr>
          </a:p>
        </p:txBody>
      </p:sp>
      <p:graphicFrame>
        <p:nvGraphicFramePr>
          <p:cNvPr id="7" name="Table 6">
            <a:extLst>
              <a:ext uri="{FF2B5EF4-FFF2-40B4-BE49-F238E27FC236}">
                <a16:creationId xmlns:a16="http://schemas.microsoft.com/office/drawing/2014/main" id="{93F4C640-9648-B2B5-B5BC-6FA80D0FEDA5}"/>
              </a:ext>
            </a:extLst>
          </p:cNvPr>
          <p:cNvGraphicFramePr>
            <a:graphicFrameLocks noGrp="1"/>
          </p:cNvGraphicFramePr>
          <p:nvPr>
            <p:extLst>
              <p:ext uri="{D42A27DB-BD31-4B8C-83A1-F6EECF244321}">
                <p14:modId xmlns:p14="http://schemas.microsoft.com/office/powerpoint/2010/main" val="1655441536"/>
              </p:ext>
            </p:extLst>
          </p:nvPr>
        </p:nvGraphicFramePr>
        <p:xfrm>
          <a:off x="0" y="4044556"/>
          <a:ext cx="9144000" cy="2743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359316599"/>
                    </a:ext>
                  </a:extLst>
                </a:gridCol>
                <a:gridCol w="3048000">
                  <a:extLst>
                    <a:ext uri="{9D8B030D-6E8A-4147-A177-3AD203B41FA5}">
                      <a16:colId xmlns:a16="http://schemas.microsoft.com/office/drawing/2014/main" val="1960532648"/>
                    </a:ext>
                  </a:extLst>
                </a:gridCol>
                <a:gridCol w="3048000">
                  <a:extLst>
                    <a:ext uri="{9D8B030D-6E8A-4147-A177-3AD203B41FA5}">
                      <a16:colId xmlns:a16="http://schemas.microsoft.com/office/drawing/2014/main" val="4279820215"/>
                    </a:ext>
                  </a:extLst>
                </a:gridCol>
              </a:tblGrid>
              <a:tr h="223171">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dirty="0">
                          <a:solidFill>
                            <a:schemeClr val="bg1"/>
                          </a:solidFill>
                        </a:rPr>
                        <a:t>Instant Enemy Item Detection</a:t>
                      </a:r>
                    </a:p>
                  </a:txBody>
                  <a:tcPr/>
                </a:tc>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ea"/>
                          <a:cs typeface="+mn-cs"/>
                        </a:rPr>
                        <a:t>Pretest Item Difficulty Prediction</a:t>
                      </a:r>
                      <a:endParaRPr lang="en-US" dirty="0"/>
                    </a:p>
                  </a:txBody>
                  <a:tcPr/>
                </a:tc>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ea"/>
                          <a:cs typeface="+mn-cs"/>
                        </a:rPr>
                        <a:t>Assisted Classification</a:t>
                      </a:r>
                      <a:endParaRPr lang="en-US" dirty="0"/>
                    </a:p>
                  </a:txBody>
                  <a:tcPr/>
                </a:tc>
                <a:extLst>
                  <a:ext uri="{0D108BD9-81ED-4DB2-BD59-A6C34878D82A}">
                    <a16:rowId xmlns:a16="http://schemas.microsoft.com/office/drawing/2014/main" val="3503618609"/>
                  </a:ext>
                </a:extLst>
              </a:tr>
            </a:tbl>
          </a:graphicData>
        </a:graphic>
      </p:graphicFrame>
      <p:sp>
        <p:nvSpPr>
          <p:cNvPr id="8" name="TextBox 7">
            <a:extLst>
              <a:ext uri="{FF2B5EF4-FFF2-40B4-BE49-F238E27FC236}">
                <a16:creationId xmlns:a16="http://schemas.microsoft.com/office/drawing/2014/main" id="{64D430E4-68F6-4392-5A17-DA7CD2FAFAF4}"/>
              </a:ext>
            </a:extLst>
          </p:cNvPr>
          <p:cNvSpPr txBox="1"/>
          <p:nvPr/>
        </p:nvSpPr>
        <p:spPr>
          <a:xfrm>
            <a:off x="6085840" y="2388335"/>
            <a:ext cx="3063240" cy="1384995"/>
          </a:xfrm>
          <a:prstGeom prst="rect">
            <a:avLst/>
          </a:prstGeom>
          <a:noFill/>
          <a:ln>
            <a:noFill/>
          </a:ln>
        </p:spPr>
        <p:txBody>
          <a:bodyPr wrap="square">
            <a:spAutoFit/>
          </a:bodyPr>
          <a:lstStyle/>
          <a:p>
            <a:r>
              <a:rPr lang="en-US" sz="700" dirty="0"/>
              <a:t>A </a:t>
            </a:r>
            <a:r>
              <a:rPr lang="en-US" sz="700" b="1" dirty="0"/>
              <a:t>local language model </a:t>
            </a:r>
            <a:r>
              <a:rPr lang="en-US" sz="700" dirty="0"/>
              <a:t>is a language model deployed on-premises or within a private server, rather than through external cloud APIs. This ensures </a:t>
            </a:r>
            <a:r>
              <a:rPr lang="en-US" sz="700" b="1" dirty="0"/>
              <a:t>data confidentiality</a:t>
            </a:r>
            <a:r>
              <a:rPr lang="en-US" sz="700" dirty="0"/>
              <a:t>, as sensitive assessment content—such as item stems, keys, or psychometric metadata—never leaves the organization’s secure environment.</a:t>
            </a:r>
          </a:p>
          <a:p>
            <a:endParaRPr lang="en-US" sz="700" dirty="0"/>
          </a:p>
          <a:p>
            <a:r>
              <a:rPr lang="en-US" sz="700" dirty="0"/>
              <a:t>For small- to mid-size certification and licensure programs, a </a:t>
            </a:r>
            <a:r>
              <a:rPr lang="en-US" sz="700" b="1" dirty="0"/>
              <a:t>Small Language Model (SLM) </a:t>
            </a:r>
            <a:r>
              <a:rPr lang="en-US" sz="700" dirty="0"/>
              <a:t>offers a cost-effective alternative, supporting secure use cases such as:</a:t>
            </a:r>
          </a:p>
          <a:p>
            <a:pPr marL="171450" indent="-171450">
              <a:buFont typeface="Arial" panose="020B0604020202020204" pitchFamily="34" charset="0"/>
              <a:buChar char="•"/>
            </a:pPr>
            <a:r>
              <a:rPr lang="en-US" sz="700" dirty="0"/>
              <a:t>Automated item review and feedback generation</a:t>
            </a:r>
          </a:p>
          <a:p>
            <a:pPr marL="171450" indent="-171450">
              <a:buFont typeface="Arial" panose="020B0604020202020204" pitchFamily="34" charset="0"/>
              <a:buChar char="•"/>
            </a:pPr>
            <a:r>
              <a:rPr lang="en-US" sz="700" dirty="0"/>
              <a:t>Item modeling and item development</a:t>
            </a:r>
          </a:p>
          <a:p>
            <a:pPr marL="171450" indent="-171450">
              <a:buFont typeface="Arial" panose="020B0604020202020204" pitchFamily="34" charset="0"/>
              <a:buChar char="•"/>
            </a:pPr>
            <a:r>
              <a:rPr lang="en-US" sz="700" dirty="0"/>
              <a:t>Integration with vector databases for semantic search</a:t>
            </a:r>
          </a:p>
        </p:txBody>
      </p:sp>
      <p:sp>
        <p:nvSpPr>
          <p:cNvPr id="11" name="TextBox 10">
            <a:extLst>
              <a:ext uri="{FF2B5EF4-FFF2-40B4-BE49-F238E27FC236}">
                <a16:creationId xmlns:a16="http://schemas.microsoft.com/office/drawing/2014/main" id="{FF99B7F9-3D71-1772-B100-E6E4E5540578}"/>
              </a:ext>
            </a:extLst>
          </p:cNvPr>
          <p:cNvSpPr txBox="1"/>
          <p:nvPr/>
        </p:nvSpPr>
        <p:spPr>
          <a:xfrm>
            <a:off x="3068320" y="2380835"/>
            <a:ext cx="3017522" cy="1169551"/>
          </a:xfrm>
          <a:prstGeom prst="rect">
            <a:avLst/>
          </a:prstGeom>
          <a:noFill/>
          <a:ln>
            <a:noFill/>
          </a:ln>
        </p:spPr>
        <p:txBody>
          <a:bodyPr wrap="square" rtlCol="0">
            <a:spAutoFit/>
          </a:bodyPr>
          <a:lstStyle/>
          <a:p>
            <a:r>
              <a:rPr lang="en-US" sz="700" dirty="0"/>
              <a:t>Traditional </a:t>
            </a:r>
            <a:r>
              <a:rPr lang="en-US" sz="700" b="1" dirty="0"/>
              <a:t>Relational Databases (RDBs)</a:t>
            </a:r>
            <a:r>
              <a:rPr lang="en-US" sz="700" dirty="0"/>
              <a:t> store structured data like item IDs, domains, and psychometric parameters for exact-match queries. </a:t>
            </a:r>
            <a:br>
              <a:rPr lang="en-US" sz="700" dirty="0"/>
            </a:br>
            <a:r>
              <a:rPr lang="en-US" sz="700" dirty="0"/>
              <a:t>In contrast, a </a:t>
            </a:r>
            <a:r>
              <a:rPr lang="en-US" sz="700" b="1" dirty="0"/>
              <a:t>Vector Database</a:t>
            </a:r>
            <a:r>
              <a:rPr lang="en-US" sz="700" dirty="0"/>
              <a:t> stores numerical</a:t>
            </a:r>
            <a:r>
              <a:rPr lang="en-US" sz="700" i="1" dirty="0"/>
              <a:t> embeddings </a:t>
            </a:r>
            <a:r>
              <a:rPr lang="en-US" sz="700" dirty="0"/>
              <a:t>that capture the semantic meaning of text, enabling similarity searches based on conceptual closeness rather than keywords.</a:t>
            </a:r>
            <a:br>
              <a:rPr lang="en-US" sz="700" dirty="0"/>
            </a:br>
            <a:endParaRPr lang="en-US" sz="700" dirty="0"/>
          </a:p>
          <a:p>
            <a:r>
              <a:rPr lang="en-US" sz="700" dirty="0"/>
              <a:t>Using </a:t>
            </a:r>
            <a:r>
              <a:rPr lang="en-US" sz="700" b="1" dirty="0"/>
              <a:t>PostgreSQL with the </a:t>
            </a:r>
            <a:r>
              <a:rPr lang="en-US" sz="700" b="1" dirty="0" err="1"/>
              <a:t>pgvector</a:t>
            </a:r>
            <a:r>
              <a:rPr lang="en-US" sz="700" b="1" dirty="0"/>
              <a:t> extension</a:t>
            </a:r>
            <a:r>
              <a:rPr lang="en-US" sz="700" dirty="0"/>
              <a:t> seamlessly integrates both—allowing relational data management and real-time vector similarity search in one system. This hybrid design is simple, scalable, and ideal for AI-augmented test development.</a:t>
            </a:r>
          </a:p>
        </p:txBody>
      </p:sp>
      <p:sp>
        <p:nvSpPr>
          <p:cNvPr id="13" name="TextBox 12">
            <a:extLst>
              <a:ext uri="{FF2B5EF4-FFF2-40B4-BE49-F238E27FC236}">
                <a16:creationId xmlns:a16="http://schemas.microsoft.com/office/drawing/2014/main" id="{78A55693-20A4-5B97-23C9-EE76355E8DE7}"/>
              </a:ext>
            </a:extLst>
          </p:cNvPr>
          <p:cNvSpPr txBox="1"/>
          <p:nvPr/>
        </p:nvSpPr>
        <p:spPr>
          <a:xfrm>
            <a:off x="5080" y="2394572"/>
            <a:ext cx="3063240" cy="523220"/>
          </a:xfrm>
          <a:prstGeom prst="rect">
            <a:avLst/>
          </a:prstGeom>
          <a:noFill/>
          <a:ln>
            <a:noFill/>
          </a:ln>
        </p:spPr>
        <p:txBody>
          <a:bodyPr wrap="square" rtlCol="0">
            <a:spAutoFit/>
          </a:bodyPr>
          <a:lstStyle/>
          <a:p>
            <a:r>
              <a:rPr lang="en-US" sz="700" b="1" dirty="0"/>
              <a:t>Embeddings</a:t>
            </a:r>
            <a:r>
              <a:rPr lang="en-US" sz="700" dirty="0"/>
              <a:t> are numerical representations of text that capture its meaning in a continuous, high-dimensional vector space.</a:t>
            </a:r>
            <a:br>
              <a:rPr lang="en-US" sz="700" dirty="0"/>
            </a:br>
            <a:r>
              <a:rPr lang="en-US" sz="700" dirty="0"/>
              <a:t>In simpler terms, they convert each test item (stem, options, or prompt) into a list of numbers that describe its semantic content.</a:t>
            </a:r>
          </a:p>
        </p:txBody>
      </p:sp>
      <p:graphicFrame>
        <p:nvGraphicFramePr>
          <p:cNvPr id="14" name="Table 13">
            <a:extLst>
              <a:ext uri="{FF2B5EF4-FFF2-40B4-BE49-F238E27FC236}">
                <a16:creationId xmlns:a16="http://schemas.microsoft.com/office/drawing/2014/main" id="{3D2D1B3F-FE17-F838-AD61-03E8D253FA0F}"/>
              </a:ext>
            </a:extLst>
          </p:cNvPr>
          <p:cNvGraphicFramePr>
            <a:graphicFrameLocks noGrp="1"/>
          </p:cNvGraphicFramePr>
          <p:nvPr>
            <p:extLst>
              <p:ext uri="{D42A27DB-BD31-4B8C-83A1-F6EECF244321}">
                <p14:modId xmlns:p14="http://schemas.microsoft.com/office/powerpoint/2010/main" val="4291122492"/>
              </p:ext>
            </p:extLst>
          </p:nvPr>
        </p:nvGraphicFramePr>
        <p:xfrm>
          <a:off x="5080" y="2130412"/>
          <a:ext cx="9144000" cy="2743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359316599"/>
                    </a:ext>
                  </a:extLst>
                </a:gridCol>
                <a:gridCol w="3048000">
                  <a:extLst>
                    <a:ext uri="{9D8B030D-6E8A-4147-A177-3AD203B41FA5}">
                      <a16:colId xmlns:a16="http://schemas.microsoft.com/office/drawing/2014/main" val="1960532648"/>
                    </a:ext>
                  </a:extLst>
                </a:gridCol>
                <a:gridCol w="3048000">
                  <a:extLst>
                    <a:ext uri="{9D8B030D-6E8A-4147-A177-3AD203B41FA5}">
                      <a16:colId xmlns:a16="http://schemas.microsoft.com/office/drawing/2014/main" val="4279820215"/>
                    </a:ext>
                  </a:extLst>
                </a:gridCol>
              </a:tblGrid>
              <a:tr h="223171">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dirty="0">
                          <a:solidFill>
                            <a:schemeClr val="bg1"/>
                          </a:solidFill>
                        </a:rPr>
                        <a:t>Embedding </a:t>
                      </a:r>
                    </a:p>
                  </a:txBody>
                  <a:tcPr/>
                </a:tc>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ea"/>
                          <a:cs typeface="+mn-cs"/>
                        </a:rPr>
                        <a:t>Vector DB</a:t>
                      </a:r>
                      <a:endParaRPr lang="en-US" dirty="0"/>
                    </a:p>
                  </a:txBody>
                  <a:tcPr/>
                </a:tc>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ea"/>
                          <a:cs typeface="+mn-cs"/>
                        </a:rPr>
                        <a:t>Local SLM</a:t>
                      </a:r>
                      <a:endParaRPr lang="en-US" dirty="0"/>
                    </a:p>
                  </a:txBody>
                  <a:tcPr/>
                </a:tc>
                <a:extLst>
                  <a:ext uri="{0D108BD9-81ED-4DB2-BD59-A6C34878D82A}">
                    <a16:rowId xmlns:a16="http://schemas.microsoft.com/office/drawing/2014/main" val="3503618609"/>
                  </a:ext>
                </a:extLst>
              </a:tr>
            </a:tbl>
          </a:graphicData>
        </a:graphic>
      </p:graphicFrame>
      <p:pic>
        <p:nvPicPr>
          <p:cNvPr id="15" name="Picture 14">
            <a:extLst>
              <a:ext uri="{FF2B5EF4-FFF2-40B4-BE49-F238E27FC236}">
                <a16:creationId xmlns:a16="http://schemas.microsoft.com/office/drawing/2014/main" id="{FD89F5F5-730F-CE95-CE0B-8D14C6A210DB}"/>
              </a:ext>
            </a:extLst>
          </p:cNvPr>
          <p:cNvPicPr>
            <a:picLocks noChangeAspect="1"/>
          </p:cNvPicPr>
          <p:nvPr/>
        </p:nvPicPr>
        <p:blipFill>
          <a:blip r:embed="rId4"/>
          <a:stretch>
            <a:fillRect/>
          </a:stretch>
        </p:blipFill>
        <p:spPr>
          <a:xfrm>
            <a:off x="816864" y="2963021"/>
            <a:ext cx="1605378" cy="805803"/>
          </a:xfrm>
          <a:prstGeom prst="rect">
            <a:avLst/>
          </a:prstGeom>
        </p:spPr>
      </p:pic>
      <p:sp>
        <p:nvSpPr>
          <p:cNvPr id="16" name="TextBox 15">
            <a:extLst>
              <a:ext uri="{FF2B5EF4-FFF2-40B4-BE49-F238E27FC236}">
                <a16:creationId xmlns:a16="http://schemas.microsoft.com/office/drawing/2014/main" id="{3A31610E-799E-53A1-29BB-372CE6585432}"/>
              </a:ext>
            </a:extLst>
          </p:cNvPr>
          <p:cNvSpPr txBox="1"/>
          <p:nvPr/>
        </p:nvSpPr>
        <p:spPr>
          <a:xfrm>
            <a:off x="6076950" y="6151853"/>
            <a:ext cx="3063240" cy="415498"/>
          </a:xfrm>
          <a:prstGeom prst="rect">
            <a:avLst/>
          </a:prstGeom>
          <a:noFill/>
          <a:ln>
            <a:noFill/>
          </a:ln>
        </p:spPr>
        <p:txBody>
          <a:bodyPr wrap="square">
            <a:spAutoFit/>
          </a:bodyPr>
          <a:lstStyle/>
          <a:p>
            <a:r>
              <a:rPr lang="en-US" sz="700" dirty="0"/>
              <a:t>After validating the prototype, the system will be evaluated using the full operational item pool. Pending successful performance, the project will advance to a full-scale implementation phase.</a:t>
            </a:r>
          </a:p>
        </p:txBody>
      </p:sp>
      <p:sp>
        <p:nvSpPr>
          <p:cNvPr id="17" name="TextBox 16">
            <a:extLst>
              <a:ext uri="{FF2B5EF4-FFF2-40B4-BE49-F238E27FC236}">
                <a16:creationId xmlns:a16="http://schemas.microsoft.com/office/drawing/2014/main" id="{2E06750D-B43F-23D2-04E9-00FEBE9F593B}"/>
              </a:ext>
            </a:extLst>
          </p:cNvPr>
          <p:cNvSpPr txBox="1"/>
          <p:nvPr/>
        </p:nvSpPr>
        <p:spPr>
          <a:xfrm>
            <a:off x="3059430" y="6125303"/>
            <a:ext cx="3017522" cy="523220"/>
          </a:xfrm>
          <a:prstGeom prst="rect">
            <a:avLst/>
          </a:prstGeom>
          <a:noFill/>
          <a:ln>
            <a:noFill/>
          </a:ln>
        </p:spPr>
        <p:txBody>
          <a:bodyPr wrap="square" rtlCol="0">
            <a:spAutoFit/>
          </a:bodyPr>
          <a:lstStyle/>
          <a:p>
            <a:pPr marL="171450" indent="-171450">
              <a:buFont typeface="Arial" panose="020B0604020202020204" pitchFamily="34" charset="0"/>
              <a:buChar char="•"/>
            </a:pPr>
            <a:r>
              <a:rPr lang="en-US" sz="700" dirty="0"/>
              <a:t>Set up a database, load the item bank, and generate embeddings by combining the stem and choices columns using the nomic-ai/nomic-embed-text-v1.5 model (768 dimensions).</a:t>
            </a:r>
          </a:p>
          <a:p>
            <a:pPr marL="171450" indent="-171450">
              <a:buFont typeface="Arial" panose="020B0604020202020204" pitchFamily="34" charset="0"/>
              <a:buChar char="•"/>
            </a:pPr>
            <a:r>
              <a:rPr lang="en-US" sz="700" dirty="0"/>
              <a:t>Develop a </a:t>
            </a:r>
            <a:r>
              <a:rPr lang="en-US" sz="700" dirty="0" err="1"/>
              <a:t>Streamlit</a:t>
            </a:r>
            <a:r>
              <a:rPr lang="en-US" sz="700" dirty="0"/>
              <a:t> GUI that provides the required functionality.</a:t>
            </a:r>
          </a:p>
        </p:txBody>
      </p:sp>
      <p:sp>
        <p:nvSpPr>
          <p:cNvPr id="20" name="TextBox 19">
            <a:extLst>
              <a:ext uri="{FF2B5EF4-FFF2-40B4-BE49-F238E27FC236}">
                <a16:creationId xmlns:a16="http://schemas.microsoft.com/office/drawing/2014/main" id="{75A7DE20-010E-CDBD-2259-330209732AEF}"/>
              </a:ext>
            </a:extLst>
          </p:cNvPr>
          <p:cNvSpPr txBox="1"/>
          <p:nvPr/>
        </p:nvSpPr>
        <p:spPr>
          <a:xfrm>
            <a:off x="-3810" y="6146660"/>
            <a:ext cx="3063240" cy="523220"/>
          </a:xfrm>
          <a:prstGeom prst="rect">
            <a:avLst/>
          </a:prstGeom>
          <a:noFill/>
          <a:ln>
            <a:noFill/>
          </a:ln>
        </p:spPr>
        <p:txBody>
          <a:bodyPr wrap="square" rtlCol="0">
            <a:spAutoFit/>
          </a:bodyPr>
          <a:lstStyle/>
          <a:p>
            <a:r>
              <a:rPr lang="en-US" sz="700" dirty="0"/>
              <a:t>Sample Item Pool:</a:t>
            </a:r>
          </a:p>
          <a:p>
            <a:pPr marL="171450" indent="-171450">
              <a:buFont typeface="Arial" panose="020B0604020202020204" pitchFamily="34" charset="0"/>
              <a:buChar char="•"/>
            </a:pPr>
            <a:r>
              <a:rPr lang="en-US" sz="700" dirty="0"/>
              <a:t>Domains: 8</a:t>
            </a:r>
          </a:p>
          <a:p>
            <a:pPr marL="171450" indent="-171450">
              <a:buFont typeface="Arial" panose="020B0604020202020204" pitchFamily="34" charset="0"/>
              <a:buChar char="•"/>
            </a:pPr>
            <a:r>
              <a:rPr lang="en-US" sz="700" dirty="0"/>
              <a:t>Topics: 64</a:t>
            </a:r>
          </a:p>
          <a:p>
            <a:pPr marL="171450" indent="-171450">
              <a:buFont typeface="Arial" panose="020B0604020202020204" pitchFamily="34" charset="0"/>
              <a:buChar char="•"/>
            </a:pPr>
            <a:r>
              <a:rPr lang="en-US" sz="700" dirty="0"/>
              <a:t>Active Items: 1,510 (≈89%)</a:t>
            </a:r>
          </a:p>
        </p:txBody>
      </p:sp>
      <p:graphicFrame>
        <p:nvGraphicFramePr>
          <p:cNvPr id="22" name="Table 21">
            <a:extLst>
              <a:ext uri="{FF2B5EF4-FFF2-40B4-BE49-F238E27FC236}">
                <a16:creationId xmlns:a16="http://schemas.microsoft.com/office/drawing/2014/main" id="{9E1B7E55-9277-D798-5FD0-7B8C0B42F182}"/>
              </a:ext>
            </a:extLst>
          </p:cNvPr>
          <p:cNvGraphicFramePr>
            <a:graphicFrameLocks noGrp="1"/>
          </p:cNvGraphicFramePr>
          <p:nvPr>
            <p:extLst>
              <p:ext uri="{D42A27DB-BD31-4B8C-83A1-F6EECF244321}">
                <p14:modId xmlns:p14="http://schemas.microsoft.com/office/powerpoint/2010/main" val="2584296759"/>
              </p:ext>
            </p:extLst>
          </p:nvPr>
        </p:nvGraphicFramePr>
        <p:xfrm>
          <a:off x="-3810" y="5882500"/>
          <a:ext cx="9146793" cy="274320"/>
        </p:xfrm>
        <a:graphic>
          <a:graphicData uri="http://schemas.openxmlformats.org/drawingml/2006/table">
            <a:tbl>
              <a:tblPr firstRow="1" bandRow="1">
                <a:tableStyleId>{5C22544A-7EE6-4342-B048-85BDC9FD1C3A}</a:tableStyleId>
              </a:tblPr>
              <a:tblGrid>
                <a:gridCol w="3048931">
                  <a:extLst>
                    <a:ext uri="{9D8B030D-6E8A-4147-A177-3AD203B41FA5}">
                      <a16:colId xmlns:a16="http://schemas.microsoft.com/office/drawing/2014/main" val="2359316599"/>
                    </a:ext>
                  </a:extLst>
                </a:gridCol>
                <a:gridCol w="3048931">
                  <a:extLst>
                    <a:ext uri="{9D8B030D-6E8A-4147-A177-3AD203B41FA5}">
                      <a16:colId xmlns:a16="http://schemas.microsoft.com/office/drawing/2014/main" val="1960532648"/>
                    </a:ext>
                  </a:extLst>
                </a:gridCol>
                <a:gridCol w="3048931">
                  <a:extLst>
                    <a:ext uri="{9D8B030D-6E8A-4147-A177-3AD203B41FA5}">
                      <a16:colId xmlns:a16="http://schemas.microsoft.com/office/drawing/2014/main" val="4279820215"/>
                    </a:ext>
                  </a:extLst>
                </a:gridCol>
              </a:tblGrid>
              <a:tr h="223171">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dirty="0">
                          <a:solidFill>
                            <a:schemeClr val="bg1"/>
                          </a:solidFill>
                        </a:rPr>
                        <a:t>Sample Item Pool</a:t>
                      </a:r>
                    </a:p>
                  </a:txBody>
                  <a:tcPr/>
                </a:tc>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ea"/>
                          <a:cs typeface="+mn-cs"/>
                        </a:rPr>
                        <a:t>Embedding in Vector DB and GUI</a:t>
                      </a:r>
                      <a:endParaRPr lang="en-US" dirty="0"/>
                    </a:p>
                  </a:txBody>
                  <a:tcPr/>
                </a:tc>
                <a:tc>
                  <a:txBody>
                    <a:bodyPr/>
                    <a:lstStyle/>
                    <a:p>
                      <a:pPr marL="0" marR="0" lvl="0" indent="0" algn="ctr" defTabSz="914254"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mn-lt"/>
                          <a:ea typeface="+mn-ea"/>
                          <a:cs typeface="+mn-cs"/>
                        </a:rPr>
                        <a:t>Next Step</a:t>
                      </a:r>
                      <a:endParaRPr lang="en-US" dirty="0"/>
                    </a:p>
                  </a:txBody>
                  <a:tcPr/>
                </a:tc>
                <a:extLst>
                  <a:ext uri="{0D108BD9-81ED-4DB2-BD59-A6C34878D82A}">
                    <a16:rowId xmlns:a16="http://schemas.microsoft.com/office/drawing/2014/main" val="3503618609"/>
                  </a:ext>
                </a:extLst>
              </a:tr>
            </a:tbl>
          </a:graphicData>
        </a:graphic>
      </p:graphicFrame>
      <p:sp>
        <p:nvSpPr>
          <p:cNvPr id="24" name="TextBox 23">
            <a:extLst>
              <a:ext uri="{FF2B5EF4-FFF2-40B4-BE49-F238E27FC236}">
                <a16:creationId xmlns:a16="http://schemas.microsoft.com/office/drawing/2014/main" id="{E9FBAFF1-5B26-3E03-1E47-60B8BF4E7BBE}"/>
              </a:ext>
            </a:extLst>
          </p:cNvPr>
          <p:cNvSpPr txBox="1"/>
          <p:nvPr/>
        </p:nvSpPr>
        <p:spPr>
          <a:xfrm>
            <a:off x="0" y="5664000"/>
            <a:ext cx="9144000" cy="261610"/>
          </a:xfrm>
          <a:prstGeom prst="rect">
            <a:avLst/>
          </a:prstGeom>
          <a:solidFill>
            <a:schemeClr val="tx1"/>
          </a:solidFill>
        </p:spPr>
        <p:txBody>
          <a:bodyPr wrap="square" rtlCol="0">
            <a:spAutoFit/>
          </a:bodyPr>
          <a:lstStyle/>
          <a:p>
            <a:pPr algn="ctr"/>
            <a:r>
              <a:rPr lang="en-US" sz="1050" b="1" dirty="0">
                <a:solidFill>
                  <a:schemeClr val="bg1"/>
                </a:solidFill>
              </a:rPr>
              <a:t>Implementation</a:t>
            </a:r>
          </a:p>
        </p:txBody>
      </p:sp>
    </p:spTree>
    <p:extLst>
      <p:ext uri="{BB962C8B-B14F-4D97-AF65-F5344CB8AC3E}">
        <p14:creationId xmlns:p14="http://schemas.microsoft.com/office/powerpoint/2010/main" val="10011532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1871</TotalTime>
  <Words>807</Words>
  <Application>Microsoft Office PowerPoint</Application>
  <PresentationFormat>On-screen Show (4:3)</PresentationFormat>
  <Paragraphs>48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Cho</dc:creator>
  <cp:lastModifiedBy>Jake Cho</cp:lastModifiedBy>
  <cp:revision>25</cp:revision>
  <dcterms:created xsi:type="dcterms:W3CDTF">2025-11-01T18:00:13Z</dcterms:created>
  <dcterms:modified xsi:type="dcterms:W3CDTF">2025-11-07T15:16:30Z</dcterms:modified>
</cp:coreProperties>
</file>