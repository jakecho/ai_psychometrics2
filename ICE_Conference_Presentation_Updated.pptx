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Credentialing Challenge in AIG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Traditional Approach: "Blank-page" LLM prompting or rigid templates.</a:t>
            </a:r>
          </a:p>
          <a:p>
            <a:pPr/>
            <a:r>
              <a:t>The Result (Focusing on Quantity over Quality):</a:t>
            </a:r>
          </a:p>
          <a:p>
            <a:pPr/>
            <a:r>
              <a:t>Superficial paraphrasing (Item Cloning).</a:t>
            </a:r>
          </a:p>
          <a:p>
            <a:pPr/>
            <a:r>
              <a:t>Shallow cognitive demand (Testing recall over application).</a:t>
            </a:r>
          </a:p>
          <a:p>
            <a:pPr/>
            <a:r>
              <a:t>Too much focus on mass production, leading to poor quality items and non-functioning distractors.</a:t>
            </a:r>
          </a:p>
          <a:p>
            <a:pPr/>
            <a:r>
              <a:t>The Core Need: We must explicitly model cognitive operations and content complexity before generating the text of an item.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4-Agent SME Toolkit Architecture</a:t>
            </a:r>
          </a:p>
        </p:txBody>
      </p:sp>
      <p:pic>
        <p:nvPicPr>
          <p:cNvPr id="3" name="Picture 2" descr="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85557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Encoder Agent: Deconstruction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 Formulate the precise item model from reference material.</a:t>
            </a:r>
          </a:p>
          <a:p>
            <a:pPr/>
            <a:r>
              <a:t>Action: Decomposes source materials and seed items.</a:t>
            </a:r>
          </a:p>
          <a:p>
            <a:pPr/>
            <a:r>
              <a:t>Output: A strict cognitive blueprint independent of surface text.</a:t>
            </a:r>
          </a:p>
          <a:p>
            <a:pPr/>
            <a:r>
              <a:t>Key Metrics Captured:</a:t>
            </a:r>
          </a:p>
          <a:p>
            <a:pPr/>
            <a:r>
              <a:t>Two Main Areas: Domain/Task Knowledge &amp; Cognitive Depth.</a:t>
            </a:r>
          </a:p>
          <a:p>
            <a:pPr/>
            <a:r>
              <a:t>Decomposition of core "radical" features from superficial "incident" features.</a:t>
            </a:r>
          </a:p>
          <a:p>
            <a:pPr/>
            <a:r>
              <a:t>Target mental operations (e.g., analyze, prioritize).</a:t>
            </a:r>
          </a:p>
          <a:p>
            <a:pPr/>
            <a:r>
              <a:t>Identification of potential construct-irrelevant variance.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Decoder Agent: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 Reconstruct the item model based on the Encoder's blueprint.</a:t>
            </a:r>
          </a:p>
          <a:p>
            <a:pPr/>
            <a:r>
              <a:t>Action: Drafts the clinical vignette/scenario and question prompt.</a:t>
            </a:r>
          </a:p>
          <a:p>
            <a:pPr/>
            <a:r>
              <a:t>Spaces Created: Establishes the Key Feature Space and Misconception Space to guide expected option generation.</a:t>
            </a:r>
          </a:p>
          <a:p>
            <a:pPr/>
            <a:r>
              <a:t>Fidelity: Ensures the generated text maintains absolute fidelity to the intended cognitive construct.</a:t>
            </a:r>
          </a:p>
          <a:p>
            <a:pPr/>
            <a:r>
              <a:t>Result: Items that are cognitively isomorphic (identical in difficulty and demand) but deeply diverse in operational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Diffusion Agent: Distractor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 Formulate the key and distractors using Cognitive Misconception Mapping (CMM).</a:t>
            </a:r>
          </a:p>
          <a:p>
            <a:pPr/>
            <a:r>
              <a:t>Semantic Search: Uses Vector DBs to identify overlapping knowledge concepts.</a:t>
            </a:r>
          </a:p>
          <a:p>
            <a:pPr/>
            <a:r>
              <a:t>Context Search: Uses Relational DBs to leverage current item information within the bank.</a:t>
            </a:r>
          </a:p>
          <a:p>
            <a:pPr/>
            <a:r>
              <a:t>Plausibility: Validates and confirms the key feature and misconception spaces to formulate functional distractors targeting known errors.</a:t>
            </a:r>
          </a:p>
        </p:txBody>
      </p:sp>
      <p:pic>
        <p:nvPicPr>
          <p:cNvPr id="4" name="Picture 3" descr="ven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6400800" cy="1752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Rationale Agent: Validation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 Validate the generated item and create a comprehensive evidence trace.</a:t>
            </a:r>
          </a:p>
          <a:p>
            <a:pPr/>
            <a:r>
              <a:t>RAG Dependency: The RAG system is especially critical for this agent to validate the overall item model and distractors, confirming the strict accuracy of all information.</a:t>
            </a:r>
          </a:p>
          <a:p>
            <a:pPr/>
            <a:r>
              <a:t>Multi-tiered Rationales Produced:</a:t>
            </a:r>
          </a:p>
          <a:p>
            <a:pPr/>
            <a:r>
              <a:t>1. Candidate-Facing: Simple, teaching-oriented explanations.</a:t>
            </a:r>
          </a:p>
          <a:p>
            <a:pPr/>
            <a:r>
              <a:t>2. SME-Facing: Technical explanations referencing required features.</a:t>
            </a:r>
          </a:p>
          <a:p>
            <a:pPr/>
            <a:r>
              <a:t>3. Audit-Facing: Evidence trace documenting explicit grounding to 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Complete Technical Foundation</a:t>
            </a:r>
          </a:p>
        </p:txBody>
      </p:sp>
      <p:pic>
        <p:nvPicPr>
          <p:cNvPr id="3" name="Picture 2" descr="db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9414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Role of the Subject Matter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SME is no longer facing a blank page. They are an Interactive Partner:</a:t>
            </a:r>
          </a:p>
          <a:p>
            <a:pPr/>
            <a:r>
              <a:t>1. Direct the Agents: Set the cognitive target and provide the seed material.</a:t>
            </a:r>
          </a:p>
          <a:p>
            <a:pPr/>
            <a:r>
              <a:t>2. Review the Blueprint: Approve the Encoder's deconstruction before drafting begins.</a:t>
            </a:r>
          </a:p>
          <a:p>
            <a:pPr/>
            <a:r>
              <a:t>3. Analyze Overlap: Evaluate the Cognitive Misconception Mapping logic of the Diffusion Agent's distractors.</a:t>
            </a:r>
          </a:p>
          <a:p>
            <a:pPr/>
            <a:r>
              <a:t>4. Final Approval: Certify the Rationale Agent's evidence trace.</a:t>
            </a:r>
          </a:p>
          <a:p>
            <a:pPr/>
            <a:r>
              <a:t>Result: Higher quality items, vastly reduced fatigue, and strictly maintained psychometric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Q/A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Takeaways:</a:t>
            </a:r>
          </a:p>
          <a:p>
            <a:pPr/>
            <a:r>
              <a:t>Text generation alone is insufficient for high-stakes credentialing.</a:t>
            </a:r>
          </a:p>
          <a:p>
            <a:pPr/>
            <a:r>
              <a:t>The 4-Agent Architecture (Encoder, Decoder, Diffusion, Rationale) guarantees construct alignment.</a:t>
            </a:r>
          </a:p>
          <a:p>
            <a:pPr/>
            <a:r>
              <a:t>Advanced infrastructure (RAG, Vector &amp; Relational DBs) grounds generation in truth.</a:t>
            </a:r>
          </a:p>
          <a:p>
            <a:pPr/>
            <a:r>
              <a:t>SMEs transition to powerful cognitive architects.</a:t>
            </a:r>
          </a:p>
          <a:p>
            <a:pPr/>
            <a:r>
              <a:t>Questions?</a:t>
            </a:r>
          </a:p>
          <a:p>
            <a:pPr/>
            <a:r>
              <a:t>[Contact Information / Program details]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